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95" r:id="rId3"/>
    <p:sldId id="259" r:id="rId4"/>
    <p:sldId id="307" r:id="rId5"/>
    <p:sldId id="296" r:id="rId6"/>
    <p:sldId id="280" r:id="rId7"/>
    <p:sldId id="309" r:id="rId8"/>
    <p:sldId id="317" r:id="rId9"/>
    <p:sldId id="304" r:id="rId10"/>
    <p:sldId id="313" r:id="rId11"/>
    <p:sldId id="308" r:id="rId12"/>
    <p:sldId id="310" r:id="rId13"/>
    <p:sldId id="318" r:id="rId14"/>
    <p:sldId id="298" r:id="rId15"/>
  </p:sldIdLst>
  <p:sldSz cx="12192000" cy="6858000"/>
  <p:notesSz cx="6858000" cy="9144000"/>
  <p:embeddedFontLst>
    <p:embeddedFont>
      <p:font typeface="Tw Cen MT" panose="020B0602020104020603" pitchFamily="34" charset="0"/>
      <p:regular r:id="rId17"/>
      <p:bold r:id="rId18"/>
      <p:italic r:id="rId19"/>
      <p:boldItalic r:id="rId20"/>
    </p:embeddedFont>
    <p:embeddedFont>
      <p:font typeface="Tw Cen MT Condensed" panose="020B0606020104020203" pitchFamily="34" charset="0"/>
      <p:regular r:id="rId21"/>
      <p:bold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56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93" y="43"/>
      </p:cViewPr>
      <p:guideLst>
        <p:guide orient="horz" pos="2160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40774" y="2520643"/>
            <a:ext cx="11031794" cy="1353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en-US" sz="4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Dynamic Vehicle Routing for Emergency Services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3086100" y="242887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086100" y="445189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3086100" y="4964310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reeform 10"/>
          <p:cNvSpPr/>
          <p:nvPr/>
        </p:nvSpPr>
        <p:spPr>
          <a:xfrm>
            <a:off x="167640" y="190500"/>
            <a:ext cx="3611880" cy="1047750"/>
          </a:xfrm>
          <a:custGeom>
            <a:avLst/>
            <a:gdLst/>
            <a:ahLst/>
            <a:cxnLst/>
            <a:rect l="l" t="t" r="r" b="b"/>
            <a:pathLst>
              <a:path w="6078191" h="1644838">
                <a:moveTo>
                  <a:pt x="0" y="0"/>
                </a:moveTo>
                <a:lnTo>
                  <a:pt x="6078191" y="0"/>
                </a:lnTo>
                <a:lnTo>
                  <a:pt x="6078191" y="1644838"/>
                </a:lnTo>
                <a:lnTo>
                  <a:pt x="0" y="164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11"/>
          <p:cNvSpPr/>
          <p:nvPr/>
        </p:nvSpPr>
        <p:spPr>
          <a:xfrm>
            <a:off x="7802880" y="190500"/>
            <a:ext cx="4221480" cy="1047750"/>
          </a:xfrm>
          <a:custGeom>
            <a:avLst/>
            <a:gdLst/>
            <a:ahLst/>
            <a:cxnLst/>
            <a:rect l="l" t="t" r="r" b="b"/>
            <a:pathLst>
              <a:path w="6695160" h="1457450">
                <a:moveTo>
                  <a:pt x="0" y="0"/>
                </a:moveTo>
                <a:lnTo>
                  <a:pt x="6695160" y="0"/>
                </a:lnTo>
                <a:lnTo>
                  <a:pt x="6695160" y="1457449"/>
                </a:lnTo>
                <a:lnTo>
                  <a:pt x="0" y="1457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565392" y="4685451"/>
            <a:ext cx="43174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1400" b="1" dirty="0">
                <a:solidFill>
                  <a:srgbClr val="00B0F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</a:p>
          <a:p>
            <a:pPr marL="365125" lvl="1">
              <a:spcBef>
                <a:spcPts val="550"/>
              </a:spcBef>
            </a:pPr>
            <a:r>
              <a:rPr lang="en-US" sz="1400" b="1" dirty="0" err="1">
                <a:solidFill>
                  <a:srgbClr val="00206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G.Raju</a:t>
            </a:r>
            <a:r>
              <a:rPr lang="en-US" sz="1400" b="1" dirty="0">
                <a:solidFill>
                  <a:srgbClr val="00206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(192411065)</a:t>
            </a:r>
          </a:p>
          <a:p>
            <a:pPr marL="365125" lvl="1">
              <a:spcBef>
                <a:spcPts val="550"/>
              </a:spcBef>
            </a:pPr>
            <a:r>
              <a:rPr lang="en-US" altLang="en-US" sz="1400" b="1" dirty="0" err="1">
                <a:solidFill>
                  <a:srgbClr val="00206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P.Sai</a:t>
            </a:r>
            <a:r>
              <a:rPr lang="en-US" altLang="en-US" sz="1400" b="1" dirty="0">
                <a:solidFill>
                  <a:srgbClr val="00206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Bhargav(192411049)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85451"/>
            <a:ext cx="630739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000" b="1" dirty="0">
                <a:solidFill>
                  <a:schemeClr val="accent1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Guided By:		</a:t>
            </a:r>
          </a:p>
          <a:p>
            <a:pPr marL="365125" lvl="1">
              <a:spcBef>
                <a:spcPts val="550"/>
              </a:spcBef>
            </a:pPr>
            <a:r>
              <a:rPr lang="en-US" sz="2000" b="1" dirty="0">
                <a:solidFill>
                  <a:srgbClr val="00206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Dr  </a:t>
            </a:r>
            <a:r>
              <a:rPr lang="en-IN" b="1" dirty="0" err="1">
                <a:solidFill>
                  <a:srgbClr val="002060"/>
                </a:solidFill>
              </a:rPr>
              <a:t>Gnanajeyaraman</a:t>
            </a:r>
            <a:r>
              <a:rPr lang="en-IN" b="1" dirty="0">
                <a:solidFill>
                  <a:srgbClr val="002060"/>
                </a:solidFill>
              </a:rPr>
              <a:t> Rajaram</a:t>
            </a:r>
            <a:endParaRPr lang="en-US" sz="2000" b="1" dirty="0">
              <a:solidFill>
                <a:srgbClr val="002060"/>
              </a:solidFill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365125" lvl="1">
              <a:spcBef>
                <a:spcPts val="550"/>
              </a:spcBef>
            </a:pPr>
            <a:r>
              <a:rPr lang="en-US" sz="2000" b="1" dirty="0">
                <a:solidFill>
                  <a:srgbClr val="00206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Saveetha School of Engineering</a:t>
            </a:r>
          </a:p>
          <a:p>
            <a:pPr marL="365125" lvl="1">
              <a:spcBef>
                <a:spcPts val="550"/>
              </a:spcBef>
            </a:pPr>
            <a:r>
              <a:rPr lang="en-US" sz="2000" b="1" dirty="0">
                <a:solidFill>
                  <a:srgbClr val="002060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Chennai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413693" y="599855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erriweather"/>
              </a:rPr>
              <a:t>Abstract</a:t>
            </a: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13321" y="3635974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q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89169" y="1961263"/>
            <a:ext cx="10689509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Emergency services require fast, reliable, and efficient vehicle routing to reach critical locations on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Traditional routing systems may not handle traffic congestion, accidents, road closures, and changing road conditions effectively.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The proposed system uses real-time traffic and road information to select the best available route.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The road network is represented using a graph structure, where roads and locations are treated as connected nodes and edges.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Dijkstra’s Algorithm and A* Algorithm are used to calculate efficient routes for emergency vehicles.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erriweather"/>
              </a:rPr>
              <a:t>Introduction</a:t>
            </a: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7165" y="1823720"/>
            <a:ext cx="5676265" cy="4652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r>
              <a:rPr lang="en-US" altLang="en-US" sz="2000" b="1" dirty="0"/>
              <a:t>What is Real-Time Dynamic Vehicle Routing?</a:t>
            </a:r>
          </a:p>
          <a:p>
            <a:endParaRPr lang="en-US" altLang="en-US" sz="2000" dirty="0"/>
          </a:p>
          <a:p>
            <a:r>
              <a:rPr lang="en-US" altLang="en-US" sz="2000" dirty="0"/>
              <a:t>Real-time dynamic vehicle routing is a process of finding the most efficient route for vehicles based on current traffic and road conditions.</a:t>
            </a:r>
          </a:p>
          <a:p>
            <a:endParaRPr lang="en-US" altLang="en-US" sz="2000" dirty="0"/>
          </a:p>
          <a:p>
            <a:r>
              <a:rPr lang="en-US" altLang="en-US" sz="2000" b="1" dirty="0"/>
              <a:t>Problem Statement</a:t>
            </a:r>
          </a:p>
          <a:p>
            <a:endParaRPr lang="en-US" altLang="en-US" sz="2000" dirty="0"/>
          </a:p>
          <a:p>
            <a:r>
              <a:rPr lang="en-US" altLang="en-US" sz="2000" dirty="0"/>
              <a:t>Traditional emergency vehicle routing systems face several challenges:</a:t>
            </a:r>
          </a:p>
          <a:p>
            <a:endParaRPr lang="en-US" altLang="en-US" sz="2000" dirty="0"/>
          </a:p>
          <a:p>
            <a:r>
              <a:rPr lang="en-US" altLang="en-US" sz="2000" dirty="0"/>
              <a:t>Fixed or pre-planned routes</a:t>
            </a:r>
          </a:p>
          <a:p>
            <a:r>
              <a:rPr lang="en-US" altLang="en-US" sz="2000" dirty="0"/>
              <a:t>Traffic congestion and unexpected delays</a:t>
            </a:r>
          </a:p>
          <a:p>
            <a:r>
              <a:rPr lang="en-US" altLang="en-US" sz="2000" dirty="0"/>
              <a:t>Road accidents and road closures</a:t>
            </a:r>
          </a:p>
          <a:p>
            <a:r>
              <a:rPr lang="en-US" altLang="en-US" sz="2000" dirty="0"/>
              <a:t>Slow route updates</a:t>
            </a:r>
          </a:p>
          <a:p>
            <a:r>
              <a:rPr lang="en-US" altLang="en-US" sz="2000" dirty="0"/>
              <a:t>Increased emergency response time</a:t>
            </a:r>
          </a:p>
          <a:p>
            <a:r>
              <a:rPr lang="en-US" altLang="en-US" sz="2000" dirty="0"/>
              <a:t>Manual route selection</a:t>
            </a:r>
          </a:p>
          <a:p>
            <a:r>
              <a:rPr lang="en-US" altLang="en-US" sz="2000" dirty="0"/>
              <a:t>Limited real-time traffic consideration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7230" y="2199005"/>
            <a:ext cx="6414770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430923" y="551427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118743"/>
              </p:ext>
            </p:extLst>
          </p:nvPr>
        </p:nvGraphicFramePr>
        <p:xfrm>
          <a:off x="598516" y="1550499"/>
          <a:ext cx="10881282" cy="4945181"/>
        </p:xfrm>
        <a:graphic>
          <a:graphicData uri="http://schemas.openxmlformats.org/drawingml/2006/table">
            <a:tbl>
              <a:tblPr/>
              <a:tblGrid>
                <a:gridCol w="313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878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Paper / Journal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Author(s)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Work Addressed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4753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A Dynamic Vehicle Routing Problem with Time Windows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2020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/>
                        <a:t>M. Azi, S. Gendreau, J.-Y. Potvin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Studied dynamic vehicle routing with changing requests and time constraints to improve route efficiency.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9044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Real-Time Traffic-Aware Routing for Emergency Vehicles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2021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S. Chen, Y. Wang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Proposed traffic-aware routing methods using real-time road conditions to reduce emergency vehicle travel time.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4753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Dynamic Shortest Path Algorithms for Road Networks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P. Sanders, D. Schultes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Investigated efficient shortest-path techniques for large road networks with changing travel conditions.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4753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A Search Algorithm for Intelligent Vehicle Routing*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2023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R. Kumar, A. Singh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/>
                        <a:t>Applied A* search for faster route calculation using distance and heuristic information.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413693" y="563133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erriweather"/>
              </a:rPr>
              <a:t>Research Gap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857" y="1963310"/>
            <a:ext cx="634419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/>
              <a:t>Existing Systems :</a:t>
            </a:r>
          </a:p>
          <a:p>
            <a:r>
              <a:rPr lang="en-US" altLang="en-US" sz="2000" dirty="0"/>
              <a:t>Mostly designed for fixed or static routing.</a:t>
            </a:r>
          </a:p>
          <a:p>
            <a:r>
              <a:rPr lang="en-US" altLang="en-US" sz="2000" dirty="0"/>
              <a:t>Limited support for real-time traffic conditions.</a:t>
            </a:r>
          </a:p>
          <a:p>
            <a:r>
              <a:rPr lang="en-US" altLang="en-US" sz="2000" dirty="0"/>
              <a:t>Manual intervention is often required for route changes.</a:t>
            </a:r>
          </a:p>
          <a:p>
            <a:r>
              <a:rPr lang="en-US" altLang="en-US" sz="2000" dirty="0"/>
              <a:t>Limited handling of accidents, road closures, and congestion.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 proposed system :</a:t>
            </a:r>
          </a:p>
          <a:p>
            <a:endParaRPr lang="en-US" altLang="en-US" sz="2000" dirty="0"/>
          </a:p>
          <a:p>
            <a:r>
              <a:rPr lang="en-US" altLang="en-US" sz="2000" dirty="0"/>
              <a:t>Combining real-time traffic monitoring with dynamic routing.</a:t>
            </a:r>
          </a:p>
          <a:p>
            <a:r>
              <a:rPr lang="en-US" altLang="en-US" sz="2000" dirty="0"/>
              <a:t>Supporting automatic route selection and re-routing.</a:t>
            </a:r>
          </a:p>
          <a:p>
            <a:r>
              <a:rPr lang="en-US" altLang="en-US" sz="2000" dirty="0"/>
              <a:t>Using Dijkstra’s and A* algorithms for route optimization.</a:t>
            </a:r>
          </a:p>
          <a:p>
            <a:r>
              <a:rPr lang="en-US" altLang="en-US" sz="2000" dirty="0"/>
              <a:t>Providing continuous vehicle tracking and route monitoring.</a:t>
            </a:r>
          </a:p>
        </p:txBody>
      </p:sp>
      <p:pic>
        <p:nvPicPr>
          <p:cNvPr id="5" name="Picture 4" descr="Водію, поступайся дорогою «швидкій»! Кожен четвертий цього не робить — інформкампанія | hromadske">
            <a:extLst>
              <a:ext uri="{FF2B5EF4-FFF2-40B4-BE49-F238E27FC236}">
                <a16:creationId xmlns:a16="http://schemas.microsoft.com/office/drawing/2014/main" id="{BDB59508-55C6-8057-D857-5A89D9E13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585" y="2484400"/>
            <a:ext cx="5453118" cy="3163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68" y="212711"/>
            <a:ext cx="1103582" cy="858116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106818"/>
            <a:ext cx="1225094" cy="1085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98631" y="318604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Proposed Objectives</a:t>
            </a:r>
            <a:endParaRPr lang="en-IN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249" y="2040818"/>
            <a:ext cx="5951888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Develop a real-time emergency vehicle routing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Monitor traffic and road conditions continuously.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Enable automatic route selection and dynamic re-routing.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Minimize emergency response time and travel delays.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Optimize routes using Dijkstra’s and A* algorithms.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cs typeface="Times New Roman" panose="02020603050405020304" pitchFamily="18" charset="0"/>
              </a:rPr>
              <a:t>Provide real-time vehicle tracking and route monitoring.</a:t>
            </a:r>
          </a:p>
        </p:txBody>
      </p:sp>
      <p:sp>
        <p:nvSpPr>
          <p:cNvPr id="4" name="Freeform 29"/>
          <p:cNvSpPr/>
          <p:nvPr/>
        </p:nvSpPr>
        <p:spPr>
          <a:xfrm>
            <a:off x="3966242" y="1678515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0" name="Google Shape;169;p17"/>
          <p:cNvSpPr/>
          <p:nvPr/>
        </p:nvSpPr>
        <p:spPr>
          <a:xfrm>
            <a:off x="424206" y="1192531"/>
            <a:ext cx="11196294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 descr="Ambulance route optimization in a mobile ambulance dispatch system using deep neural network (DNN) | Scientific Reports">
            <a:extLst>
              <a:ext uri="{FF2B5EF4-FFF2-40B4-BE49-F238E27FC236}">
                <a16:creationId xmlns:a16="http://schemas.microsoft.com/office/drawing/2014/main" id="{8DE929D6-A1E0-AA87-D6D9-CCC81A366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59" y="2040819"/>
            <a:ext cx="4828137" cy="3580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413693" y="563133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Leveraging real-time data: A location-based ambulance booking and tracking system with geofencing&#10;       | Journal of Integrated Science and Technology">
            <a:extLst>
              <a:ext uri="{FF2B5EF4-FFF2-40B4-BE49-F238E27FC236}">
                <a16:creationId xmlns:a16="http://schemas.microsoft.com/office/drawing/2014/main" id="{ECB10504-75B7-801F-0443-8FAF87426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660" y="1958041"/>
            <a:ext cx="818197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413693" y="563133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3870" y="1487170"/>
            <a:ext cx="11049635" cy="521906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Emergency Request &amp; Vehicle Management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Real-Time Traffic Monitoring</a:t>
            </a:r>
          </a:p>
        </p:txBody>
      </p:sp>
      <p:pic>
        <p:nvPicPr>
          <p:cNvPr id="7" name="Picture 6" descr="Lanes of Hope with IUDX Based Green Corridor for Emergency Vehicles - Data for Public Good">
            <a:extLst>
              <a:ext uri="{FF2B5EF4-FFF2-40B4-BE49-F238E27FC236}">
                <a16:creationId xmlns:a16="http://schemas.microsoft.com/office/drawing/2014/main" id="{891DA796-5E9B-33F2-2787-B9E771C6D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056" y="3242628"/>
            <a:ext cx="4526740" cy="31241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68" y="212711"/>
            <a:ext cx="1103582" cy="858116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106818"/>
            <a:ext cx="1103582" cy="994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3832" y="563579"/>
            <a:ext cx="935047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200" b="1" dirty="0">
                <a:solidFill>
                  <a:schemeClr val="accent1"/>
                </a:solidFill>
              </a:rPr>
              <a:t>Module 1:Emergency Request &amp; Vehicle Management</a:t>
            </a:r>
          </a:p>
        </p:txBody>
      </p:sp>
      <p:sp>
        <p:nvSpPr>
          <p:cNvPr id="4" name="Freeform 29"/>
          <p:cNvSpPr/>
          <p:nvPr/>
        </p:nvSpPr>
        <p:spPr>
          <a:xfrm>
            <a:off x="4535027" y="1826000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0" name="Google Shape;169;p17"/>
          <p:cNvSpPr/>
          <p:nvPr/>
        </p:nvSpPr>
        <p:spPr>
          <a:xfrm>
            <a:off x="424206" y="1192531"/>
            <a:ext cx="11196294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032" y="1527588"/>
            <a:ext cx="5219509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/>
              <a:t>Objective:</a:t>
            </a:r>
          </a:p>
          <a:p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Provide fast emergency request processing and assign a suitable available vehicle.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Key Functions: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Emergency request registration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Vehicle registration and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Identify emergency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Identify destination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Check vehicle availability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Assign nearest suitable vehicle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9271" y="1671706"/>
            <a:ext cx="4950543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/>
              <a:t>Input:</a:t>
            </a:r>
          </a:p>
          <a:p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Emergency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Destination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Vehicle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Emergency type</a:t>
            </a:r>
          </a:p>
          <a:p>
            <a:endParaRPr lang="en-US" altLang="en-US" sz="2000" dirty="0"/>
          </a:p>
          <a:p>
            <a:r>
              <a:rPr lang="en-US" altLang="en-US" sz="2000" b="1" dirty="0"/>
              <a:t>Output:</a:t>
            </a:r>
          </a:p>
          <a:p>
            <a:endParaRPr lang="en-US" altLang="en-US" sz="2000" dirty="0"/>
          </a:p>
          <a:p>
            <a:r>
              <a:rPr lang="en-US" altLang="en-US" sz="2000" dirty="0"/>
              <a:t>Assigned emergency vehicle</a:t>
            </a:r>
          </a:p>
          <a:p>
            <a:r>
              <a:rPr lang="en-US" altLang="en-US" sz="2000" dirty="0"/>
              <a:t>Validated emergency request</a:t>
            </a:r>
          </a:p>
          <a:p>
            <a:r>
              <a:rPr lang="en-US" altLang="en-US" sz="2000" dirty="0"/>
              <a:t>Vehicle status</a:t>
            </a:r>
          </a:p>
          <a:p>
            <a:endParaRPr lang="en-US" altLang="en-US" sz="2000" dirty="0"/>
          </a:p>
          <a:p>
            <a:r>
              <a:rPr lang="en-US" altLang="en-US" sz="2000" b="1" dirty="0"/>
              <a:t>Technologies:</a:t>
            </a:r>
          </a:p>
          <a:p>
            <a:endParaRPr lang="en-US" altLang="en-US" sz="2000" dirty="0"/>
          </a:p>
          <a:p>
            <a:r>
              <a:rPr lang="en-US" altLang="en-US" sz="2000" dirty="0"/>
              <a:t>HTML + CSS + JavaScript + Python + SQLite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68" y="212711"/>
            <a:ext cx="1103582" cy="858116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106818"/>
            <a:ext cx="1103582" cy="994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8882" y="562944"/>
            <a:ext cx="935047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/>
                </a:solidFill>
              </a:rPr>
              <a:t>Module 2: </a:t>
            </a:r>
            <a:r>
              <a:rPr lang="en-US" altLang="en-US" sz="3200" b="1" dirty="0">
                <a:solidFill>
                  <a:schemeClr val="accent1"/>
                </a:solidFill>
              </a:rPr>
              <a:t>Real-Time Traffic Monitoring</a:t>
            </a:r>
            <a:endParaRPr lang="en-IN" sz="3200" b="1" dirty="0">
              <a:solidFill>
                <a:schemeClr val="accent1"/>
              </a:solidFill>
            </a:endParaRPr>
          </a:p>
        </p:txBody>
      </p:sp>
      <p:sp>
        <p:nvSpPr>
          <p:cNvPr id="4" name="Freeform 29"/>
          <p:cNvSpPr/>
          <p:nvPr/>
        </p:nvSpPr>
        <p:spPr>
          <a:xfrm>
            <a:off x="4535027" y="1826000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0" name="Google Shape;169;p17"/>
          <p:cNvSpPr/>
          <p:nvPr/>
        </p:nvSpPr>
        <p:spPr>
          <a:xfrm>
            <a:off x="424206" y="1192531"/>
            <a:ext cx="11196294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4206" y="1649018"/>
            <a:ext cx="4924542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Objective: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Monitor current traffic and road conditions to support efficient emergency routing.</a:t>
            </a:r>
          </a:p>
          <a:p>
            <a:endParaRPr lang="en-US" altLang="en-US" sz="2400" b="1" dirty="0"/>
          </a:p>
          <a:p>
            <a:r>
              <a:rPr lang="en-US" altLang="en-US" sz="2400" b="1" dirty="0"/>
              <a:t>Key Functions:</a:t>
            </a:r>
          </a:p>
          <a:p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Collect real-time traffic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Monitor traffic congestion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Detect road accidents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Identify road closures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Update road travel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Continuously refresh traffic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6295" y="1282700"/>
            <a:ext cx="5859145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/>
              <a:t>Input:</a:t>
            </a:r>
          </a:p>
          <a:p>
            <a:endParaRPr lang="en-US" altLang="en-US" sz="2400" dirty="0"/>
          </a:p>
          <a:p>
            <a:r>
              <a:rPr lang="en-US" altLang="en-US" sz="2400" dirty="0"/>
              <a:t>Traffic data</a:t>
            </a:r>
          </a:p>
          <a:p>
            <a:r>
              <a:rPr lang="en-US" altLang="en-US" sz="2400" dirty="0"/>
              <a:t>Road conditions</a:t>
            </a:r>
          </a:p>
          <a:p>
            <a:r>
              <a:rPr lang="en-US" altLang="en-US" sz="2400" dirty="0"/>
              <a:t>Vehicle location</a:t>
            </a:r>
          </a:p>
          <a:p>
            <a:endParaRPr lang="en-US" altLang="en-US" sz="2400" dirty="0"/>
          </a:p>
          <a:p>
            <a:r>
              <a:rPr lang="en-US" altLang="en-US" sz="2400" b="1" dirty="0"/>
              <a:t>Output:</a:t>
            </a:r>
          </a:p>
          <a:p>
            <a:endParaRPr lang="en-US" altLang="en-US" sz="2400" dirty="0"/>
          </a:p>
          <a:p>
            <a:r>
              <a:rPr lang="en-US" altLang="en-US" sz="2400" dirty="0"/>
              <a:t>Updated traffic information</a:t>
            </a:r>
          </a:p>
          <a:p>
            <a:r>
              <a:rPr lang="en-US" altLang="en-US" sz="2400" dirty="0"/>
              <a:t>Congestion status</a:t>
            </a:r>
          </a:p>
          <a:p>
            <a:r>
              <a:rPr lang="en-US" altLang="en-US" sz="2400" dirty="0"/>
              <a:t>Available road status</a:t>
            </a:r>
          </a:p>
          <a:p>
            <a:endParaRPr lang="en-US" altLang="en-US" sz="2400" dirty="0"/>
          </a:p>
          <a:p>
            <a:r>
              <a:rPr lang="en-US" altLang="en-US" sz="2400" b="1" dirty="0"/>
              <a:t>Technologies:</a:t>
            </a:r>
          </a:p>
          <a:p>
            <a:endParaRPr lang="en-US" altLang="en-US" sz="2400" dirty="0"/>
          </a:p>
          <a:p>
            <a:r>
              <a:rPr lang="en-US" altLang="en-US" sz="2400" dirty="0"/>
              <a:t>Traffic API + GPS + Python +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868" y="212711"/>
            <a:ext cx="1103582" cy="858116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1938" y="106818"/>
            <a:ext cx="1103582" cy="994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3832" y="563579"/>
            <a:ext cx="935047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</a:t>
            </a:r>
          </a:p>
        </p:txBody>
      </p:sp>
      <p:sp>
        <p:nvSpPr>
          <p:cNvPr id="4" name="Freeform 29"/>
          <p:cNvSpPr/>
          <p:nvPr/>
        </p:nvSpPr>
        <p:spPr>
          <a:xfrm>
            <a:off x="4535027" y="1826000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0" name="Google Shape;169;p17"/>
          <p:cNvSpPr/>
          <p:nvPr/>
        </p:nvSpPr>
        <p:spPr>
          <a:xfrm>
            <a:off x="424206" y="1192531"/>
            <a:ext cx="11196294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621665" y="1589405"/>
            <a:ext cx="10981690" cy="4761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graphicFrame>
        <p:nvGraphicFramePr>
          <p:cNvPr id="26" name="Table 25"/>
          <p:cNvGraphicFramePr/>
          <p:nvPr>
            <p:custDataLst>
              <p:tags r:id="rId1"/>
            </p:custDataLst>
          </p:nvPr>
        </p:nvGraphicFramePr>
        <p:xfrm>
          <a:off x="876300" y="1588770"/>
          <a:ext cx="1072896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Approach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Purpose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 Selection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Updates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Dijkstra’s Algorithm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shortest path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Shortest path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road networks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 Algorithm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efficient path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Shortest/efficient path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road networks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Re-Routing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Updates route based on conditions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Fastest current route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 services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413693" y="563133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285" y="1647424"/>
            <a:ext cx="68457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Developed an intelligent real-time dynamic vehicle routing system for emergency services.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Utilized Dijkstra’s and A* algorithms to identify efficient emergency routes.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Enabled dynamic re-routing based on changing traffic and road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Reduced travel delays and emergency response time through optimized route selection.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Improved the overall efficiency and reliability of emergency vehicle operations.</a:t>
            </a:r>
          </a:p>
        </p:txBody>
      </p:sp>
      <p:pic>
        <p:nvPicPr>
          <p:cNvPr id="5" name="Picture 4" descr="Optimizing Ambulance Paths: Leveraging Google Maps for Real-Time Alerts">
            <a:extLst>
              <a:ext uri="{FF2B5EF4-FFF2-40B4-BE49-F238E27FC236}">
                <a16:creationId xmlns:a16="http://schemas.microsoft.com/office/drawing/2014/main" id="{1634B46E-E9C2-E649-9CDF-2362B7934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333" y="2249618"/>
            <a:ext cx="4847955" cy="40452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413693" y="563133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/>
                </a:solidFill>
                <a:latin typeface="+mj-lt"/>
              </a:rPr>
              <a:t> Future Enhancements</a:t>
            </a: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8780" y="1747867"/>
            <a:ext cx="10752347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b="1" dirty="0"/>
              <a:t>AI-Based Traffic Prediction</a:t>
            </a:r>
            <a:r>
              <a:rPr lang="en-US" altLang="en-US" sz="2400" dirty="0"/>
              <a:t> 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dirty="0"/>
              <a:t>– Predict future traffic congestion.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b="1" dirty="0"/>
              <a:t>Automatic Accident Detection 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dirty="0"/>
              <a:t>– Detect accidents and road blockages automatically.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b="1" dirty="0"/>
              <a:t>Multiple Vehicle Coordination</a:t>
            </a:r>
            <a:endParaRPr lang="en-US" altLang="en-US" sz="2400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dirty="0"/>
              <a:t> – Coordinate multiple emergency vehicles efficiently.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b="1" dirty="0"/>
              <a:t>Cloud-Based Routing 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dirty="0"/>
              <a:t>– Provide scalable real-time routing services.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b="1" dirty="0"/>
              <a:t>IoT-Based Traffic Monitoring</a:t>
            </a:r>
            <a:r>
              <a:rPr lang="en-US" altLang="en-US" sz="2400" dirty="0"/>
              <a:t> 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dirty="0"/>
              <a:t>– Collect live traffic and road-condition data.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b="1" dirty="0"/>
              <a:t>Mobile Application Support 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sz="2400" dirty="0"/>
              <a:t> – Monitor vehicles and routes through mobile devices.</a:t>
            </a:r>
          </a:p>
        </p:txBody>
      </p:sp>
      <p:pic>
        <p:nvPicPr>
          <p:cNvPr id="5" name="Picture 4" descr="Traffic Light Priority Control For Emergency Vehicles Circuit Diagram">
            <a:extLst>
              <a:ext uri="{FF2B5EF4-FFF2-40B4-BE49-F238E27FC236}">
                <a16:creationId xmlns:a16="http://schemas.microsoft.com/office/drawing/2014/main" id="{FA6BAEBA-A24E-FF5A-7DAF-EE8BD0582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244" y="2307936"/>
            <a:ext cx="4259516" cy="38099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99001" y="2156541"/>
            <a:ext cx="11748895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rofessional Thank You Images – Browse 115,867 Stock Photo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0*394"/>
  <p:tag name="TABLE_ENDDRAG_RECT" val="69*125*750*39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20</TotalTime>
  <Words>808</Words>
  <Application>Microsoft Office PowerPoint</Application>
  <PresentationFormat>Widescreen</PresentationFormat>
  <Paragraphs>176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Tw Cen MT</vt:lpstr>
      <vt:lpstr>Wingdings 3</vt:lpstr>
      <vt:lpstr>Times New Roman</vt:lpstr>
      <vt:lpstr>Tw Cen MT Condensed</vt:lpstr>
      <vt:lpstr>Arial</vt:lpstr>
      <vt:lpstr>Wingdings</vt:lpstr>
      <vt:lpstr>Calibri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kaveti vamsi siva</dc:creator>
  <cp:lastModifiedBy>gangula Raju</cp:lastModifiedBy>
  <cp:revision>24</cp:revision>
  <dcterms:created xsi:type="dcterms:W3CDTF">2026-09-01T12:46:00Z</dcterms:created>
  <dcterms:modified xsi:type="dcterms:W3CDTF">2026-09-03T08:09:58Z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BE33EE5DA09E4D63B2AF9ECC08C849BF_13</vt:lpwstr>
  </property>
</Properties>
</file>